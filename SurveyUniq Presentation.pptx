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66" r:id="rId4"/>
    <p:sldId id="258" r:id="rId5"/>
    <p:sldId id="259" r:id="rId6"/>
    <p:sldId id="260" r:id="rId7"/>
    <p:sldId id="261" r:id="rId8"/>
    <p:sldId id="262" r:id="rId9"/>
    <p:sldId id="264" r:id="rId10"/>
    <p:sldId id="267" r:id="rId11"/>
  </p:sldIdLst>
  <p:sldSz cx="12192000" cy="6858000"/>
  <p:notesSz cx="6858000" cy="9144000"/>
  <p:embeddedFontLst>
    <p:embeddedFont>
      <p:font typeface="Inter" panose="020B0604020202020204" charset="0"/>
      <p:regular r:id="rId13"/>
      <p:bold r:id="rId14"/>
      <p:italic r:id="rId15"/>
      <p:boldItalic r:id="rId16"/>
    </p:embeddedFont>
    <p:embeddedFont>
      <p:font typeface="Inter Medium" panose="020B0604020202020204" charset="0"/>
      <p:regular r:id="rId17"/>
      <p:bold r:id="rId18"/>
      <p:italic r:id="rId19"/>
      <p:boldItalic r:id="rId20"/>
    </p:embeddedFont>
    <p:embeddedFont>
      <p:font typeface="Inter SemiBold" panose="020B0604020202020204" charset="0"/>
      <p:regular r:id="rId21"/>
      <p:bold r:id="rId22"/>
      <p:italic r:id="rId23"/>
      <p:boldItalic r:id="rId24"/>
    </p:embeddedFont>
    <p:embeddedFont>
      <p:font typeface="Poppins" panose="00000500000000000000" pitchFamily="2" charset="0"/>
      <p:regular r:id="rId25"/>
      <p:bold r:id="rId26"/>
      <p:italic r:id="rId27"/>
      <p:boldItalic r:id="rId28"/>
    </p:embeddedFont>
    <p:embeddedFont>
      <p:font typeface="Poppins SemiBold" panose="00000700000000000000" pitchFamily="2" charset="0"/>
      <p:regular r:id="rId29"/>
      <p:bold r:id="rId30"/>
      <p:italic r:id="rId31"/>
      <p:boldItalic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C4B8FD7-CC3B-48CD-AA56-EB494E03B9C6}">
  <a:tblStyle styleId="{FC4B8FD7-CC3B-48CD-AA56-EB494E03B9C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21" Type="http://schemas.openxmlformats.org/officeDocument/2006/relationships/font" Target="fonts/font9.fntdata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font" Target="fonts/font1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32" Type="http://schemas.openxmlformats.org/officeDocument/2006/relationships/font" Target="fonts/font20.fntdata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font" Target="fonts/font16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31" Type="http://schemas.openxmlformats.org/officeDocument/2006/relationships/font" Target="fonts/font1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font" Target="fonts/font15.fntdata"/><Relationship Id="rId30" Type="http://schemas.openxmlformats.org/officeDocument/2006/relationships/font" Target="fonts/font18.fntdata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sha Kovalchuk" userId="99f2c2196af6b4bc" providerId="LiveId" clId="{88962140-30B3-4440-8AAB-ADD2DA3CDB12}"/>
    <pc:docChg chg="modSld sldOrd">
      <pc:chgData name="Sasha Kovalchuk" userId="99f2c2196af6b4bc" providerId="LiveId" clId="{88962140-30B3-4440-8AAB-ADD2DA3CDB12}" dt="2026-06-15T08:26:19.559" v="15"/>
      <pc:docMkLst>
        <pc:docMk/>
      </pc:docMkLst>
      <pc:sldChg chg="modSp mod">
        <pc:chgData name="Sasha Kovalchuk" userId="99f2c2196af6b4bc" providerId="LiveId" clId="{88962140-30B3-4440-8AAB-ADD2DA3CDB12}" dt="2026-05-29T10:45:36.881" v="8" actId="1076"/>
        <pc:sldMkLst>
          <pc:docMk/>
          <pc:sldMk cId="0" sldId="256"/>
        </pc:sldMkLst>
        <pc:spChg chg="mod">
          <ac:chgData name="Sasha Kovalchuk" userId="99f2c2196af6b4bc" providerId="LiveId" clId="{88962140-30B3-4440-8AAB-ADD2DA3CDB12}" dt="2026-05-29T10:45:36.881" v="8" actId="1076"/>
          <ac:spMkLst>
            <pc:docMk/>
            <pc:sldMk cId="0" sldId="256"/>
            <ac:spMk id="85" creationId="{00000000-0000-0000-0000-000000000000}"/>
          </ac:spMkLst>
        </pc:spChg>
        <pc:picChg chg="mod">
          <ac:chgData name="Sasha Kovalchuk" userId="99f2c2196af6b4bc" providerId="LiveId" clId="{88962140-30B3-4440-8AAB-ADD2DA3CDB12}" dt="2026-05-29T10:45:19.372" v="0" actId="1076"/>
          <ac:picMkLst>
            <pc:docMk/>
            <pc:sldMk cId="0" sldId="256"/>
            <ac:picMk id="84" creationId="{00000000-0000-0000-0000-000000000000}"/>
          </ac:picMkLst>
        </pc:picChg>
      </pc:sldChg>
      <pc:sldChg chg="modSp mod">
        <pc:chgData name="Sasha Kovalchuk" userId="99f2c2196af6b4bc" providerId="LiveId" clId="{88962140-30B3-4440-8AAB-ADD2DA3CDB12}" dt="2026-05-29T10:45:59.404" v="13"/>
        <pc:sldMkLst>
          <pc:docMk/>
          <pc:sldMk cId="0" sldId="257"/>
        </pc:sldMkLst>
        <pc:spChg chg="mod">
          <ac:chgData name="Sasha Kovalchuk" userId="99f2c2196af6b4bc" providerId="LiveId" clId="{88962140-30B3-4440-8AAB-ADD2DA3CDB12}" dt="2026-05-29T10:45:59.404" v="13"/>
          <ac:spMkLst>
            <pc:docMk/>
            <pc:sldMk cId="0" sldId="257"/>
            <ac:spMk id="97" creationId="{00000000-0000-0000-0000-000000000000}"/>
          </ac:spMkLst>
        </pc:spChg>
      </pc:sldChg>
      <pc:sldChg chg="ord">
        <pc:chgData name="Sasha Kovalchuk" userId="99f2c2196af6b4bc" providerId="LiveId" clId="{88962140-30B3-4440-8AAB-ADD2DA3CDB12}" dt="2026-06-15T08:26:19.559" v="15"/>
        <pc:sldMkLst>
          <pc:docMk/>
          <pc:sldMk cId="0" sldId="26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‹№›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09728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4207739" y="1881859"/>
            <a:ext cx="3776520" cy="803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50" b="1" i="0" u="none" strike="noStrike" cap="none" dirty="0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SurveyPulse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2286000" y="2756594"/>
            <a:ext cx="7620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0" i="0" u="none" strike="noStrike" cap="none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Розробк</a:t>
            </a:r>
            <a:r>
              <a:rPr lang="ru-RU" sz="1500" b="0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 </a:t>
            </a:r>
            <a:r>
              <a:rPr lang="ru-RU" sz="1500" b="0" i="0" u="none" strike="noStrike" cap="none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системи</a:t>
            </a:r>
            <a:r>
              <a:rPr lang="ru-RU" sz="1500" b="0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для </a:t>
            </a:r>
            <a:r>
              <a:rPr lang="ru-RU" sz="1500" b="0" i="0" u="none" strike="noStrike" cap="none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швидких</a:t>
            </a:r>
            <a:r>
              <a:rPr lang="ru-RU" sz="1500" b="0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ru-RU" sz="1500" b="0" i="0" u="none" strike="noStrike" cap="none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онлйн-опитувнь</a:t>
            </a:r>
            <a:r>
              <a:rPr lang="ru-RU" sz="1500" b="0" i="0" u="none" strike="noStrike" cap="none" dirty="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з контролем </a:t>
            </a:r>
            <a:r>
              <a:rPr lang="ru-RU" sz="1500" b="0" i="0" u="none" strike="noStrike" cap="none" dirty="0" err="1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унікльності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3024187" y="3890069"/>
            <a:ext cx="6143625" cy="313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Виконав</a:t>
            </a:r>
            <a:r>
              <a:rPr lang="en-US" sz="1275" b="1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27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uk-UA" sz="1275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Ковальчук Олександр Вікторович</a:t>
            </a:r>
            <a:r>
              <a:rPr lang="en-US" sz="127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 |  </a:t>
            </a:r>
            <a:r>
              <a:rPr lang="en-US" sz="1275" b="1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Група</a:t>
            </a:r>
            <a:r>
              <a:rPr lang="en-US" sz="1275" b="1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27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КН-4</a:t>
            </a:r>
            <a:r>
              <a:rPr lang="uk-UA" sz="127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dirty="0"/>
          </a:p>
        </p:txBody>
      </p:sp>
      <p:sp>
        <p:nvSpPr>
          <p:cNvPr id="88" name="Google Shape;88;p13"/>
          <p:cNvSpPr txBox="1"/>
          <p:nvPr/>
        </p:nvSpPr>
        <p:spPr>
          <a:xfrm>
            <a:off x="3024187" y="4196655"/>
            <a:ext cx="6143625" cy="258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1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Науковий</a:t>
            </a:r>
            <a:r>
              <a:rPr lang="en-US" sz="1275" b="1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75" b="1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керівник</a:t>
            </a:r>
            <a:r>
              <a:rPr lang="en-US" sz="1275" b="1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27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75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Саєнко</a:t>
            </a:r>
            <a:r>
              <a:rPr lang="en-US" sz="127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75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Андрій</a:t>
            </a:r>
            <a:r>
              <a:rPr lang="en-US" sz="1275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75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Анатолійович</a:t>
            </a:r>
            <a:endParaRPr dirty="0"/>
          </a:p>
        </p:txBody>
      </p:sp>
      <p:sp>
        <p:nvSpPr>
          <p:cNvPr id="89" name="Google Shape;89;p13"/>
          <p:cNvSpPr txBox="1"/>
          <p:nvPr/>
        </p:nvSpPr>
        <p:spPr>
          <a:xfrm>
            <a:off x="3024187" y="4598491"/>
            <a:ext cx="6143625" cy="2132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Природничо-гуманітарний фаховий коледж ДВНЗ «Ужгородський національний університет»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/>
          <p:nvPr/>
        </p:nvSpPr>
        <p:spPr>
          <a:xfrm>
            <a:off x="5524500" y="2457450"/>
            <a:ext cx="1143000" cy="3810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3259399" y="2686050"/>
            <a:ext cx="5673052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5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Актуальність та Мета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2286000" y="3838575"/>
            <a:ext cx="7620000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Метою проєкту є розробка веб-застосунку </a:t>
            </a:r>
            <a:r>
              <a:rPr lang="en-US" sz="15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SurveyPulse 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— </a:t>
            </a:r>
            <a:r>
              <a:rPr lang="uk-UA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системи онлайн-опитувань із контролем унікальності голосів за принципом «один користувач — один голос» без реєстрації та з існуючим користувачем. Актуальність проєкту полягає у вирішенні проблеми </a:t>
            </a:r>
            <a:r>
              <a:rPr lang="uk-UA" sz="1500" b="0" i="0" u="none" strike="noStrike" cap="none" dirty="0" err="1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накруток</a:t>
            </a:r>
            <a:r>
              <a:rPr lang="uk-UA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у публічних опитуваннях через використання 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Browser Fingerprint, IP-</a:t>
            </a:r>
            <a:r>
              <a:rPr lang="uk-UA" sz="1500" b="0" i="0" u="none" strike="noStrike" cap="none" dirty="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хешування та захисту на рівні бази даних.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" name="Групувати 3">
            <a:extLst>
              <a:ext uri="{FF2B5EF4-FFF2-40B4-BE49-F238E27FC236}">
                <a16:creationId xmlns:a16="http://schemas.microsoft.com/office/drawing/2014/main" id="{F160B84E-968F-FDF5-D6A5-8176DFA5C2F4}"/>
              </a:ext>
            </a:extLst>
          </p:cNvPr>
          <p:cNvGrpSpPr/>
          <p:nvPr/>
        </p:nvGrpSpPr>
        <p:grpSpPr>
          <a:xfrm>
            <a:off x="571500" y="3927276"/>
            <a:ext cx="5143500" cy="2626518"/>
            <a:chOff x="762000" y="2506265"/>
            <a:chExt cx="5143500" cy="2626518"/>
          </a:xfrm>
        </p:grpSpPr>
        <p:pic>
          <p:nvPicPr>
            <p:cNvPr id="226" name="Google Shape;226;p23" descr="image.png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62000" y="2506265"/>
              <a:ext cx="5143500" cy="262651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8" name="Google Shape;228;p23"/>
            <p:cNvSpPr txBox="1"/>
            <p:nvPr/>
          </p:nvSpPr>
          <p:spPr>
            <a:xfrm>
              <a:off x="1104900" y="2849165"/>
              <a:ext cx="4680585" cy="333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rgbClr val="0284C7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Тестові акаунти та посилання</a:t>
              </a:r>
              <a:endParaRPr/>
            </a:p>
          </p:txBody>
        </p:sp>
        <p:sp>
          <p:nvSpPr>
            <p:cNvPr id="229" name="Google Shape;229;p23"/>
            <p:cNvSpPr txBox="1"/>
            <p:nvPr/>
          </p:nvSpPr>
          <p:spPr>
            <a:xfrm>
              <a:off x="1104900" y="3325415"/>
              <a:ext cx="4457700" cy="3139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99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75" b="1" i="0" u="none" strike="noStrike" cap="none" dirty="0" err="1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Адміністратор</a:t>
              </a:r>
              <a:r>
                <a:rPr lang="en-US" sz="1275" b="1" i="0" u="none" strike="noStrike" cap="none" dirty="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:</a:t>
              </a:r>
              <a:r>
                <a:rPr lang="en-US" sz="1275" b="0" i="0" u="none" strike="noStrike" cap="none" dirty="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1275" b="0" i="0" u="none" strike="noStrike" cap="none" dirty="0" err="1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admin@cms.local</a:t>
              </a:r>
              <a:r>
                <a:rPr lang="en-US" sz="1275" b="0" i="0" u="none" strike="noStrike" cap="none" dirty="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/ </a:t>
              </a:r>
              <a:r>
                <a:rPr lang="en-US" sz="1275" b="0" i="0" u="none" strike="noStrike" cap="none" dirty="0" err="1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Пароль</a:t>
              </a:r>
              <a:r>
                <a:rPr lang="en-US" sz="1275" b="0" i="0" u="none" strike="noStrike" cap="none" dirty="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:</a:t>
              </a:r>
              <a:r>
                <a:rPr lang="uk-UA" sz="1275" b="0" i="0" u="none" strike="noStrike" cap="none" dirty="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1275" b="0" i="0" u="none" strike="noStrike" cap="none" dirty="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admin123</a:t>
              </a:r>
              <a:endParaRPr dirty="0"/>
            </a:p>
          </p:txBody>
        </p:sp>
        <p:sp>
          <p:nvSpPr>
            <p:cNvPr id="230" name="Google Shape;230;p23"/>
            <p:cNvSpPr txBox="1"/>
            <p:nvPr/>
          </p:nvSpPr>
          <p:spPr>
            <a:xfrm>
              <a:off x="1104900" y="3727251"/>
              <a:ext cx="4457700" cy="2589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99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75" b="1" i="0" u="none" strike="noStrike" cap="none" dirty="0" err="1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Респондент</a:t>
              </a:r>
              <a:r>
                <a:rPr lang="en-US" sz="1275" b="1" i="0" u="none" strike="noStrike" cap="none" dirty="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:</a:t>
              </a:r>
              <a:r>
                <a:rPr lang="en-US" sz="1275" b="0" i="0" u="none" strike="noStrike" cap="none" dirty="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1275" b="0" i="0" u="none" strike="noStrike" cap="none" dirty="0" err="1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Без</a:t>
              </a:r>
              <a:r>
                <a:rPr lang="en-US" sz="1275" b="0" i="0" u="none" strike="noStrike" cap="none" dirty="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1275" b="0" i="0" u="none" strike="noStrike" cap="none" dirty="0" err="1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обмежень</a:t>
              </a:r>
              <a:r>
                <a:rPr lang="en-US" sz="1275" b="0" i="0" u="none" strike="noStrike" cap="none" dirty="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(</a:t>
              </a:r>
              <a:r>
                <a:rPr lang="en-US" sz="1275" b="0" i="0" u="none" strike="noStrike" cap="none" dirty="0" err="1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анонімна</a:t>
              </a:r>
              <a:r>
                <a:rPr lang="en-US" sz="1275" b="0" i="0" u="none" strike="noStrike" cap="none" dirty="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1275" b="0" i="0" u="none" strike="noStrike" cap="none" dirty="0" err="1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участь</a:t>
              </a:r>
              <a:r>
                <a:rPr lang="en-US" sz="1275" b="0" i="0" u="none" strike="noStrike" cap="none" dirty="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)</a:t>
              </a:r>
              <a:endParaRPr dirty="0"/>
            </a:p>
          </p:txBody>
        </p:sp>
        <p:sp>
          <p:nvSpPr>
            <p:cNvPr id="231" name="Google Shape;231;p23"/>
            <p:cNvSpPr txBox="1"/>
            <p:nvPr/>
          </p:nvSpPr>
          <p:spPr>
            <a:xfrm>
              <a:off x="1104900" y="4129087"/>
              <a:ext cx="4457700" cy="5179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61925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99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75" b="0" i="0" u="none" strike="noStrike" cap="none" dirty="0" err="1">
                  <a:solidFill>
                    <a:srgbClr val="0284C7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Вебплатформа</a:t>
              </a:r>
              <a:r>
                <a:rPr lang="en-US" sz="1275" b="0" i="0" u="none" strike="noStrike" cap="none" dirty="0">
                  <a:solidFill>
                    <a:srgbClr val="0284C7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1275" b="0" i="0" u="none" strike="noStrike" cap="none" dirty="0" err="1">
                  <a:solidFill>
                    <a:srgbClr val="0284C7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запущена</a:t>
              </a:r>
              <a:r>
                <a:rPr lang="en-US" sz="1275" b="0" i="0" u="none" strike="noStrike" cap="none" dirty="0">
                  <a:solidFill>
                    <a:srgbClr val="0284C7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в Docker </a:t>
              </a:r>
              <a:r>
                <a:rPr lang="en-US" sz="1275" b="0" i="0" u="none" strike="noStrike" cap="none" dirty="0" err="1">
                  <a:solidFill>
                    <a:srgbClr val="0284C7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та</a:t>
              </a:r>
              <a:r>
                <a:rPr lang="en-US" sz="1275" b="0" i="0" u="none" strike="noStrike" cap="none" dirty="0">
                  <a:solidFill>
                    <a:srgbClr val="0284C7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1275" b="0" i="0" u="none" strike="noStrike" cap="none" dirty="0" err="1">
                  <a:solidFill>
                    <a:srgbClr val="0284C7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готова</a:t>
              </a:r>
              <a:r>
                <a:rPr lang="en-US" sz="1275" b="0" i="0" u="none" strike="noStrike" cap="none" dirty="0">
                  <a:solidFill>
                    <a:srgbClr val="0284C7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1275" b="0" i="0" u="none" strike="noStrike" cap="none" dirty="0" err="1">
                  <a:solidFill>
                    <a:srgbClr val="0284C7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до</a:t>
              </a:r>
              <a:r>
                <a:rPr lang="en-US" sz="1275" b="0" i="0" u="none" strike="noStrike" cap="none" dirty="0">
                  <a:solidFill>
                    <a:srgbClr val="0284C7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 </a:t>
              </a:r>
              <a:r>
                <a:rPr lang="en-US" sz="1275" b="0" i="0" u="none" strike="noStrike" cap="none" dirty="0" err="1">
                  <a:solidFill>
                    <a:srgbClr val="0284C7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розгортання</a:t>
              </a:r>
              <a:r>
                <a:rPr lang="en-US" sz="1275" b="0" i="0" u="none" strike="noStrike" cap="none" dirty="0">
                  <a:solidFill>
                    <a:srgbClr val="0284C7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.</a:t>
              </a:r>
              <a:endParaRPr dirty="0"/>
            </a:p>
          </p:txBody>
        </p:sp>
        <p:pic>
          <p:nvPicPr>
            <p:cNvPr id="236" name="Google Shape;236;p23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104900" y="4167187"/>
              <a:ext cx="161925" cy="1619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" name="Групувати 4">
            <a:extLst>
              <a:ext uri="{FF2B5EF4-FFF2-40B4-BE49-F238E27FC236}">
                <a16:creationId xmlns:a16="http://schemas.microsoft.com/office/drawing/2014/main" id="{A553D43D-FDC5-8865-39F9-6C36195C73DC}"/>
              </a:ext>
            </a:extLst>
          </p:cNvPr>
          <p:cNvGrpSpPr/>
          <p:nvPr/>
        </p:nvGrpSpPr>
        <p:grpSpPr>
          <a:xfrm>
            <a:off x="571500" y="1188220"/>
            <a:ext cx="5143500" cy="2626518"/>
            <a:chOff x="6286500" y="2506265"/>
            <a:chExt cx="5143500" cy="2626518"/>
          </a:xfrm>
        </p:grpSpPr>
        <p:pic>
          <p:nvPicPr>
            <p:cNvPr id="227" name="Google Shape;227;p23" descr="image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6286500" y="2506265"/>
              <a:ext cx="5143500" cy="262651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2" name="Google Shape;232;p23"/>
            <p:cNvSpPr txBox="1"/>
            <p:nvPr/>
          </p:nvSpPr>
          <p:spPr>
            <a:xfrm>
              <a:off x="6629400" y="2849165"/>
              <a:ext cx="4680585" cy="3333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i="0" u="none" strike="noStrike" cap="none">
                  <a:solidFill>
                    <a:srgbClr val="0284C7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Репозиторії коду (GitHub)</a:t>
              </a:r>
              <a:endParaRPr/>
            </a:p>
          </p:txBody>
        </p:sp>
        <p:sp>
          <p:nvSpPr>
            <p:cNvPr id="233" name="Google Shape;233;p23"/>
            <p:cNvSpPr txBox="1"/>
            <p:nvPr/>
          </p:nvSpPr>
          <p:spPr>
            <a:xfrm>
              <a:off x="6629400" y="3325415"/>
              <a:ext cx="4457700" cy="3139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240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99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75" b="0" i="0" u="none" strike="noStrike" cap="none" dirty="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1275" b="1" i="0" u="none" strike="noStrike" cap="none" dirty="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Frontend:</a:t>
              </a:r>
              <a:r>
                <a:rPr lang="en-US" sz="1275" b="0" i="0" u="none" strike="noStrike" cap="none" dirty="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React 18, </a:t>
              </a:r>
              <a:r>
                <a:rPr lang="en-US" sz="1275" b="0" i="0" u="none" strike="noStrike" cap="none" dirty="0" err="1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Vite</a:t>
              </a:r>
              <a:r>
                <a:rPr lang="en-US" sz="1275" b="0" i="0" u="none" strike="noStrike" cap="none" dirty="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, Tailwind CSS</a:t>
              </a:r>
              <a:endParaRPr dirty="0"/>
            </a:p>
          </p:txBody>
        </p:sp>
        <p:sp>
          <p:nvSpPr>
            <p:cNvPr id="234" name="Google Shape;234;p23"/>
            <p:cNvSpPr txBox="1"/>
            <p:nvPr/>
          </p:nvSpPr>
          <p:spPr>
            <a:xfrm>
              <a:off x="6629400" y="3727251"/>
              <a:ext cx="4457700" cy="2589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5240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99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75" b="0" i="0" u="none" strike="noStrike" cap="none" dirty="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</a:t>
              </a:r>
              <a:r>
                <a:rPr lang="en-US" sz="1275" b="1" i="0" u="none" strike="noStrike" cap="none" dirty="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Backend:</a:t>
              </a:r>
              <a:r>
                <a:rPr lang="en-US" sz="1275" b="0" i="0" u="none" strike="noStrike" cap="none" dirty="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 Node.js, </a:t>
              </a:r>
              <a:r>
                <a:rPr lang="en-US" sz="1275" b="0" i="0" u="none" strike="noStrike" cap="none" dirty="0" err="1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Fastify</a:t>
              </a:r>
              <a:r>
                <a:rPr lang="en-US" sz="1275" b="0" i="0" u="none" strike="noStrike" cap="none" dirty="0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, Prisma, TypeScript</a:t>
              </a:r>
              <a:endParaRPr dirty="0"/>
            </a:p>
          </p:txBody>
        </p:sp>
        <p:sp>
          <p:nvSpPr>
            <p:cNvPr id="235" name="Google Shape;235;p23"/>
            <p:cNvSpPr txBox="1"/>
            <p:nvPr/>
          </p:nvSpPr>
          <p:spPr>
            <a:xfrm>
              <a:off x="6629400" y="4129087"/>
              <a:ext cx="4457700" cy="5179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61925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99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75" b="0" i="0" u="none" strike="noStrike" cap="none">
                  <a:solidFill>
                    <a:srgbClr val="334155"/>
                  </a:solidFill>
                  <a:latin typeface="Inter"/>
                  <a:ea typeface="Inter"/>
                  <a:cs typeface="Inter"/>
                  <a:sym typeface="Inter"/>
                </a:rPr>
                <a:t>Інтегровано автоматичну генерацію документації через Swagger UI.</a:t>
              </a:r>
              <a:endParaRPr/>
            </a:p>
          </p:txBody>
        </p:sp>
        <p:pic>
          <p:nvPicPr>
            <p:cNvPr id="237" name="Google Shape;237;p23" descr="image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6629400" y="3363515"/>
              <a:ext cx="152400" cy="1619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8" name="Google Shape;238;p23" descr="image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6629400" y="3765351"/>
              <a:ext cx="152400" cy="1619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9" name="Google Shape;239;p23" descr="image.png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6629400" y="4167187"/>
              <a:ext cx="161925" cy="1619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0" name="Google Shape;240;p23"/>
          <p:cNvSpPr txBox="1"/>
          <p:nvPr/>
        </p:nvSpPr>
        <p:spPr>
          <a:xfrm>
            <a:off x="904875" y="571500"/>
            <a:ext cx="11051381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B132B"/>
                </a:solidFill>
                <a:latin typeface="Poppins"/>
                <a:ea typeface="Poppins"/>
                <a:cs typeface="Poppins"/>
                <a:sym typeface="Poppins"/>
              </a:rPr>
              <a:t>Демонстрація та репозиторії</a:t>
            </a:r>
            <a:endParaRPr/>
          </a:p>
        </p:txBody>
      </p:sp>
      <p:sp>
        <p:nvSpPr>
          <p:cNvPr id="241" name="Google Shape;241;p23"/>
          <p:cNvSpPr/>
          <p:nvPr/>
        </p:nvSpPr>
        <p:spPr>
          <a:xfrm>
            <a:off x="762000" y="571500"/>
            <a:ext cx="57150" cy="54292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7067B22-A347-B532-7997-A8226E872A7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0" y="1272042"/>
            <a:ext cx="4012692" cy="508539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519660"/>
            <a:ext cx="5143500" cy="259972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519660"/>
            <a:ext cx="5143500" cy="2599729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5"/>
          <p:cNvSpPr txBox="1"/>
          <p:nvPr/>
        </p:nvSpPr>
        <p:spPr>
          <a:xfrm>
            <a:off x="1104900" y="2862560"/>
            <a:ext cx="468058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Накрутка голосів (Multiple Voting)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1104900" y="3338810"/>
            <a:ext cx="4457700" cy="1294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Традиційні онлайн-опитування вразливі до фальсифікацій. Зловмисники легко обходять базові обмеження через часту зміну динамічних IP-адрес за допомогою VPN, використання режиму інкогніто або повне очищення файлів cookie.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6629400" y="2862560"/>
            <a:ext cx="468058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Бар</a:t>
            </a:r>
            <a:r>
              <a:rPr lang="uk-UA" sz="1800" b="0" i="0" u="none" strike="noStrike" cap="none" dirty="0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'</a:t>
            </a:r>
            <a:r>
              <a:rPr lang="en-US" sz="1800" b="0" i="0" u="none" strike="noStrike" cap="none" dirty="0" err="1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єр</a:t>
            </a:r>
            <a:r>
              <a:rPr lang="en-US" sz="1800" b="0" i="0" u="none" strike="noStrike" cap="none" dirty="0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r>
              <a:rPr lang="en-US" sz="1800" b="0" i="0" u="none" strike="noStrike" cap="none" dirty="0" err="1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обов'язкової</a:t>
            </a:r>
            <a:r>
              <a:rPr lang="en-US" sz="1800" b="0" i="0" u="none" strike="noStrike" cap="none" dirty="0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r>
              <a:rPr lang="en-US" sz="1800" b="0" i="0" u="none" strike="noStrike" cap="none" dirty="0" err="1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реєстрації</a:t>
            </a:r>
            <a:endParaRPr dirty="0"/>
          </a:p>
        </p:txBody>
      </p:sp>
      <p:sp>
        <p:nvSpPr>
          <p:cNvPr id="108" name="Google Shape;108;p15"/>
          <p:cNvSpPr txBox="1"/>
          <p:nvPr/>
        </p:nvSpPr>
        <p:spPr>
          <a:xfrm>
            <a:off x="6629400" y="3338810"/>
            <a:ext cx="4457700" cy="1294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Впровадження суворої авторизації респондентів (через пошту чи соціальні мережі) кардинально знижує показник конверсії. Користувачі відмовляються проходити анкетування через небажання розголошувати приватні дані.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904875" y="571500"/>
            <a:ext cx="11051381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B132B"/>
                </a:solidFill>
                <a:latin typeface="Poppins"/>
                <a:ea typeface="Poppins"/>
                <a:cs typeface="Poppins"/>
                <a:sym typeface="Poppins"/>
              </a:rPr>
              <a:t>Проблема фальсифікації даних</a:t>
            </a:r>
            <a:endParaRPr/>
          </a:p>
        </p:txBody>
      </p:sp>
      <p:sp>
        <p:nvSpPr>
          <p:cNvPr id="110" name="Google Shape;110;p15"/>
          <p:cNvSpPr/>
          <p:nvPr/>
        </p:nvSpPr>
        <p:spPr>
          <a:xfrm>
            <a:off x="762000" y="571500"/>
            <a:ext cx="57150" cy="54292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181522"/>
            <a:ext cx="3365450" cy="3276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13200" y="2181522"/>
            <a:ext cx="3365450" cy="3276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64400" y="2181522"/>
            <a:ext cx="3365450" cy="3276004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6"/>
          <p:cNvSpPr txBox="1"/>
          <p:nvPr/>
        </p:nvSpPr>
        <p:spPr>
          <a:xfrm>
            <a:off x="937896" y="3200697"/>
            <a:ext cx="3013657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Проєктування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1009650" y="3676947"/>
            <a:ext cx="2870150" cy="1035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Розробка гнучкої клієнт-серверної архітектури для створення та конструювання динамічних анкет будь-якого рівня складності.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4589096" y="3200697"/>
            <a:ext cx="3013657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Безпека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4660850" y="3676947"/>
            <a:ext cx="2870150" cy="1294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Створення багаторівневого модуля Anti-Fraud контролю для надійної ідентифікації унікальності пристроїв без збору персональних даних.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8240297" y="3200697"/>
            <a:ext cx="3013657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Аналітика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8312050" y="3676947"/>
            <a:ext cx="2870150" cy="1035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Побудова інтерактивних панелей для візуалізації результатів у реальному часі та експорт звітів у популярні формати.</a:t>
            </a:r>
            <a:endParaRPr/>
          </a:p>
        </p:txBody>
      </p:sp>
      <p:pic>
        <p:nvPicPr>
          <p:cNvPr id="125" name="Google Shape;125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244625" y="2562522"/>
            <a:ext cx="4000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95826" y="2562522"/>
            <a:ext cx="400050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547026" y="2562522"/>
            <a:ext cx="40005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904875" y="571500"/>
            <a:ext cx="11051381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B132B"/>
                </a:solidFill>
                <a:latin typeface="Poppins"/>
                <a:ea typeface="Poppins"/>
                <a:cs typeface="Poppins"/>
                <a:sym typeface="Poppins"/>
              </a:rPr>
              <a:t>Основні завдання проєкту</a:t>
            </a:r>
            <a:endParaRPr/>
          </a:p>
        </p:txBody>
      </p:sp>
      <p:sp>
        <p:nvSpPr>
          <p:cNvPr id="129" name="Google Shape;129;p16"/>
          <p:cNvSpPr/>
          <p:nvPr/>
        </p:nvSpPr>
        <p:spPr>
          <a:xfrm>
            <a:off x="762000" y="571500"/>
            <a:ext cx="57150" cy="54292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295525"/>
            <a:ext cx="3048000" cy="30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7"/>
          <p:cNvSpPr txBox="1"/>
          <p:nvPr/>
        </p:nvSpPr>
        <p:spPr>
          <a:xfrm>
            <a:off x="4572000" y="2532161"/>
            <a:ext cx="72009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Збір безтекстових параметрів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4572000" y="3008411"/>
            <a:ext cx="6858000" cy="1035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Замість використання Cookies, система зчитує понад 100 апаратних та програмних налаштувань середовища клієнта. Сюди відносяться версія ОС, параметри рендерингу графіки WebGL, Canvas API, встановлені шрифти та аудіо-контекст пристрою.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4572000" y="4187130"/>
            <a:ext cx="6858000" cy="77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Отриманий набір параметрів перетворюється у незворотний криптографічний хеш за стандартом SHA-256 на серверній стороні, забезпечуючи суворе дотримання вимог конфіденційності GDPR.</a:t>
            </a:r>
            <a:endParaRPr/>
          </a:p>
        </p:txBody>
      </p:sp>
      <p:pic>
        <p:nvPicPr>
          <p:cNvPr id="139" name="Google Shape;139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9150" y="2352675"/>
            <a:ext cx="2933700" cy="2933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/>
        </p:nvSpPr>
        <p:spPr>
          <a:xfrm>
            <a:off x="904875" y="571500"/>
            <a:ext cx="11051381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B132B"/>
                </a:solidFill>
                <a:latin typeface="Poppins"/>
                <a:ea typeface="Poppins"/>
                <a:cs typeface="Poppins"/>
                <a:sym typeface="Poppins"/>
              </a:rPr>
              <a:t>Концепція Browser Fingerprinting</a:t>
            </a:r>
            <a:endParaRPr/>
          </a:p>
        </p:txBody>
      </p:sp>
      <p:sp>
        <p:nvSpPr>
          <p:cNvPr id="141" name="Google Shape;141;p17"/>
          <p:cNvSpPr/>
          <p:nvPr/>
        </p:nvSpPr>
        <p:spPr>
          <a:xfrm>
            <a:off x="762000" y="571500"/>
            <a:ext cx="57150" cy="54292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8"/>
          <p:cNvSpPr/>
          <p:nvPr/>
        </p:nvSpPr>
        <p:spPr>
          <a:xfrm>
            <a:off x="762000" y="3800475"/>
            <a:ext cx="106680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8"/>
          <p:cNvSpPr txBox="1"/>
          <p:nvPr/>
        </p:nvSpPr>
        <p:spPr>
          <a:xfrm>
            <a:off x="700660" y="4057650"/>
            <a:ext cx="257625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1. Збір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762000" y="4438650"/>
            <a:ext cx="2453580" cy="77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Фонове генерування відбитка пристрою на стороні клієнта за допомогою FingerprintJS.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3438800" y="2280642"/>
            <a:ext cx="257625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2. Перевірка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3500139" y="2661642"/>
            <a:ext cx="2453580" cy="77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Сервер виконує перевірку лімітів частоти запитів через сховище Redis.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6176940" y="4057650"/>
            <a:ext cx="257625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3. Валідація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6238279" y="4438650"/>
            <a:ext cx="2453580" cy="77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Конвертація відбитка в SHA-256 та звірка з активними сесіями у PostgreSQL.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8915080" y="2280642"/>
            <a:ext cx="257625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4. Запис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8976419" y="2661642"/>
            <a:ext cx="2453580" cy="77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Атомарна фіксація унікального голосу та створення сесії у базі даних.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904875" y="571500"/>
            <a:ext cx="11051381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B132B"/>
                </a:solidFill>
                <a:latin typeface="Poppins"/>
                <a:ea typeface="Poppins"/>
                <a:cs typeface="Poppins"/>
                <a:sym typeface="Poppins"/>
              </a:rPr>
              <a:t>Життєвий цикл запиту респондента</a:t>
            </a:r>
            <a:endParaRPr/>
          </a:p>
        </p:txBody>
      </p:sp>
      <p:sp>
        <p:nvSpPr>
          <p:cNvPr id="157" name="Google Shape;157;p18"/>
          <p:cNvSpPr/>
          <p:nvPr/>
        </p:nvSpPr>
        <p:spPr>
          <a:xfrm>
            <a:off x="762000" y="571500"/>
            <a:ext cx="57150" cy="54292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8"/>
          <p:cNvSpPr/>
          <p:nvPr/>
        </p:nvSpPr>
        <p:spPr>
          <a:xfrm>
            <a:off x="1893540" y="372427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0284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/>
          <p:nvPr/>
        </p:nvSpPr>
        <p:spPr>
          <a:xfrm>
            <a:off x="4631680" y="372427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0284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8"/>
          <p:cNvSpPr/>
          <p:nvPr/>
        </p:nvSpPr>
        <p:spPr>
          <a:xfrm>
            <a:off x="7369819" y="372427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0284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8"/>
          <p:cNvSpPr/>
          <p:nvPr/>
        </p:nvSpPr>
        <p:spPr>
          <a:xfrm>
            <a:off x="10107959" y="372427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 cap="flat" cmpd="sng">
            <a:solidFill>
              <a:srgbClr val="0284C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9"/>
          <p:cNvSpPr txBox="1"/>
          <p:nvPr/>
        </p:nvSpPr>
        <p:spPr>
          <a:xfrm>
            <a:off x="714375" y="571500"/>
            <a:ext cx="54006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0B132B"/>
                </a:solidFill>
                <a:latin typeface="Poppins"/>
                <a:ea typeface="Poppins"/>
                <a:cs typeface="Poppins"/>
                <a:sym typeface="Poppins"/>
              </a:rPr>
              <a:t>Архітектурна екосистема</a:t>
            </a:r>
            <a:endParaRPr/>
          </a:p>
        </p:txBody>
      </p:sp>
      <p:sp>
        <p:nvSpPr>
          <p:cNvPr id="168" name="Google Shape;168;p19"/>
          <p:cNvSpPr/>
          <p:nvPr/>
        </p:nvSpPr>
        <p:spPr>
          <a:xfrm>
            <a:off x="571500" y="571500"/>
            <a:ext cx="57150" cy="54292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9" name="Google Shape;169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9"/>
          <p:cNvSpPr txBox="1"/>
          <p:nvPr/>
        </p:nvSpPr>
        <p:spPr>
          <a:xfrm>
            <a:off x="571500" y="1352550"/>
            <a:ext cx="555069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Висока</a:t>
            </a:r>
            <a:r>
              <a:rPr lang="en-US" sz="1800" b="0" i="0" u="none" strike="noStrike" cap="none" dirty="0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r>
              <a:rPr lang="en-US" sz="1800" b="0" i="0" u="none" strike="noStrike" cap="none" dirty="0" err="1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продуктивність</a:t>
            </a:r>
            <a:r>
              <a:rPr lang="en-US" sz="1800" b="0" i="0" u="none" strike="noStrike" cap="none" dirty="0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r>
              <a:rPr lang="en-US" sz="1800" b="0" i="0" u="none" strike="noStrike" cap="none" dirty="0" err="1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та</a:t>
            </a:r>
            <a:r>
              <a:rPr lang="uk-UA" sz="1800" dirty="0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r>
              <a:rPr lang="en-US" sz="1800" b="0" i="0" u="none" strike="noStrike" cap="none" dirty="0" err="1">
                <a:solidFill>
                  <a:srgbClr val="0284C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дизайн</a:t>
            </a:r>
            <a:endParaRPr dirty="0"/>
          </a:p>
        </p:txBody>
      </p:sp>
      <p:sp>
        <p:nvSpPr>
          <p:cNvPr id="171" name="Google Shape;171;p19"/>
          <p:cNvSpPr txBox="1"/>
          <p:nvPr/>
        </p:nvSpPr>
        <p:spPr>
          <a:xfrm>
            <a:off x="571500" y="1828800"/>
            <a:ext cx="5286375" cy="77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Система</a:t>
            </a:r>
            <a:r>
              <a:rPr lang="en-US" sz="127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7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побудована</a:t>
            </a:r>
            <a:r>
              <a:rPr lang="en-US" sz="127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7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за</a:t>
            </a:r>
            <a:r>
              <a:rPr lang="en-US" sz="127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7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модульним</a:t>
            </a:r>
            <a:r>
              <a:rPr lang="en-US" sz="127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7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принципом</a:t>
            </a:r>
            <a:r>
              <a:rPr lang="en-US" sz="127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з </a:t>
            </a:r>
            <a:r>
              <a:rPr lang="en-US" sz="127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розділенням</a:t>
            </a:r>
            <a:r>
              <a:rPr lang="en-US" sz="127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7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клієнтської</a:t>
            </a:r>
            <a:r>
              <a:rPr lang="en-US" sz="127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7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частини</a:t>
            </a:r>
            <a:r>
              <a:rPr lang="en-US" sz="127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(React 18, </a:t>
            </a:r>
            <a:r>
              <a:rPr lang="en-US" sz="127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Vite</a:t>
            </a:r>
            <a:r>
              <a:rPr lang="en-US" sz="127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) </a:t>
            </a:r>
            <a:r>
              <a:rPr lang="en-US" sz="127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та</a:t>
            </a:r>
            <a:r>
              <a:rPr lang="en-US" sz="127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7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продуктивного</a:t>
            </a:r>
            <a:r>
              <a:rPr lang="en-US" sz="127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7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серверного</a:t>
            </a:r>
            <a:r>
              <a:rPr lang="en-US" sz="127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API (Node.js, </a:t>
            </a:r>
            <a:r>
              <a:rPr lang="en-US" sz="127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Fastify</a:t>
            </a:r>
            <a:r>
              <a:rPr lang="en-US" sz="127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, TypeScript).</a:t>
            </a:r>
            <a:endParaRPr dirty="0"/>
          </a:p>
        </p:txBody>
      </p:sp>
      <p:sp>
        <p:nvSpPr>
          <p:cNvPr id="172" name="Google Shape;172;p19"/>
          <p:cNvSpPr txBox="1"/>
          <p:nvPr/>
        </p:nvSpPr>
        <p:spPr>
          <a:xfrm>
            <a:off x="571500" y="2758082"/>
            <a:ext cx="5286375" cy="77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Робота</a:t>
            </a:r>
            <a:r>
              <a:rPr lang="en-US" sz="127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7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зі</a:t>
            </a:r>
            <a:r>
              <a:rPr lang="en-US" sz="127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7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сховищем</a:t>
            </a:r>
            <a:r>
              <a:rPr lang="en-US" sz="127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7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даних</a:t>
            </a:r>
            <a:r>
              <a:rPr lang="en-US" sz="127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7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здійснюється</a:t>
            </a:r>
            <a:r>
              <a:rPr lang="en-US" sz="127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7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за</a:t>
            </a:r>
            <a:r>
              <a:rPr lang="en-US" sz="127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7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допомогою</a:t>
            </a:r>
            <a:r>
              <a:rPr lang="en-US" sz="127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Prisma ORM, </a:t>
            </a:r>
            <a:r>
              <a:rPr lang="en-US" sz="127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що</a:t>
            </a:r>
            <a:r>
              <a:rPr lang="en-US" sz="127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7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усуває</a:t>
            </a:r>
            <a:r>
              <a:rPr lang="en-US" sz="127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SQL-</a:t>
            </a:r>
            <a:r>
              <a:rPr lang="en-US" sz="127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ін'єкції</a:t>
            </a:r>
            <a:r>
              <a:rPr lang="en-US" sz="127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7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та</a:t>
            </a:r>
            <a:r>
              <a:rPr lang="en-US" sz="127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7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гарантує</a:t>
            </a:r>
            <a:r>
              <a:rPr lang="en-US" sz="127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7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цілісність</a:t>
            </a:r>
            <a:r>
              <a:rPr lang="en-US" sz="127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7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реляційних</a:t>
            </a:r>
            <a:r>
              <a:rPr lang="en-US" sz="127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зв'язків у </a:t>
            </a:r>
            <a:r>
              <a:rPr lang="en-US" sz="1275" b="0" i="0" u="none" strike="noStrike" cap="none" dirty="0" err="1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базі</a:t>
            </a:r>
            <a:r>
              <a:rPr lang="en-US" sz="1275" b="0" i="0" u="none" strike="noStrike" cap="none" dirty="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PostgreSQL.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7" name="Google Shape;187;p21"/>
          <p:cNvGraphicFramePr/>
          <p:nvPr/>
        </p:nvGraphicFramePr>
        <p:xfrm>
          <a:off x="762000" y="2322611"/>
          <a:ext cx="10668000" cy="2993875"/>
        </p:xfrm>
        <a:graphic>
          <a:graphicData uri="http://schemas.openxmlformats.org/drawingml/2006/table">
            <a:tbl>
              <a:tblPr firstRow="1" bandRow="1">
                <a:noFill/>
                <a:tableStyleId>{FC4B8FD7-CC3B-48CD-AA56-EB494E03B9C6}</a:tableStyleId>
              </a:tblPr>
              <a:tblGrid>
                <a:gridCol w="3082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7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6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11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8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solidFill>
                            <a:srgbClr val="0F172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Характеристика / Критерій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solidFill>
                            <a:srgbClr val="0F172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«Survio»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solidFill>
                            <a:srgbClr val="0F172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«Google Forms»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solidFill>
                            <a:srgbClr val="0F172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Розроблювана система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8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Модель розгортання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Хмарна («SaaS»)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Хмарна («SaaS»)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Власні сервери / Локально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8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Контроль унікальності без авторизації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Низький (Cookies)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Низький (потребує Google-аккаунт)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Високий (цифровий відбиток пристрою)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8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Залежність від сторонніх сервісів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Висока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Висока (екосистема Google)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Відсутня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8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1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Кастомізація серверної логіки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Відсутня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Відсутня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 b="0" i="0" u="none" strike="noStrike" cap="none">
                          <a:solidFill>
                            <a:srgbClr val="334155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Повна (відкрита архітектура)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8" name="Google Shape;188;p21"/>
          <p:cNvSpPr/>
          <p:nvPr/>
        </p:nvSpPr>
        <p:spPr>
          <a:xfrm>
            <a:off x="762000" y="2805410"/>
            <a:ext cx="308252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1"/>
          <p:cNvSpPr/>
          <p:nvPr/>
        </p:nvSpPr>
        <p:spPr>
          <a:xfrm>
            <a:off x="3844528" y="2805410"/>
            <a:ext cx="16375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1"/>
          <p:cNvSpPr/>
          <p:nvPr/>
        </p:nvSpPr>
        <p:spPr>
          <a:xfrm>
            <a:off x="5482083" y="2805410"/>
            <a:ext cx="28366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1"/>
          <p:cNvSpPr/>
          <p:nvPr/>
        </p:nvSpPr>
        <p:spPr>
          <a:xfrm>
            <a:off x="8318748" y="2805410"/>
            <a:ext cx="311125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1"/>
          <p:cNvSpPr/>
          <p:nvPr/>
        </p:nvSpPr>
        <p:spPr>
          <a:xfrm>
            <a:off x="762000" y="3561457"/>
            <a:ext cx="308252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1"/>
          <p:cNvSpPr/>
          <p:nvPr/>
        </p:nvSpPr>
        <p:spPr>
          <a:xfrm>
            <a:off x="3844528" y="3561457"/>
            <a:ext cx="16375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1"/>
          <p:cNvSpPr/>
          <p:nvPr/>
        </p:nvSpPr>
        <p:spPr>
          <a:xfrm>
            <a:off x="5482083" y="3561457"/>
            <a:ext cx="28366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1"/>
          <p:cNvSpPr/>
          <p:nvPr/>
        </p:nvSpPr>
        <p:spPr>
          <a:xfrm>
            <a:off x="8318748" y="3561457"/>
            <a:ext cx="311125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1"/>
          <p:cNvSpPr/>
          <p:nvPr/>
        </p:nvSpPr>
        <p:spPr>
          <a:xfrm>
            <a:off x="762000" y="4317503"/>
            <a:ext cx="308252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1"/>
          <p:cNvSpPr/>
          <p:nvPr/>
        </p:nvSpPr>
        <p:spPr>
          <a:xfrm>
            <a:off x="3844528" y="4317503"/>
            <a:ext cx="16375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1"/>
          <p:cNvSpPr/>
          <p:nvPr/>
        </p:nvSpPr>
        <p:spPr>
          <a:xfrm>
            <a:off x="5482083" y="4317503"/>
            <a:ext cx="28366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1"/>
          <p:cNvSpPr/>
          <p:nvPr/>
        </p:nvSpPr>
        <p:spPr>
          <a:xfrm>
            <a:off x="8318748" y="4317503"/>
            <a:ext cx="311125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1"/>
          <p:cNvSpPr/>
          <p:nvPr/>
        </p:nvSpPr>
        <p:spPr>
          <a:xfrm>
            <a:off x="762000" y="4814589"/>
            <a:ext cx="308252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1"/>
          <p:cNvSpPr/>
          <p:nvPr/>
        </p:nvSpPr>
        <p:spPr>
          <a:xfrm>
            <a:off x="3844528" y="4814589"/>
            <a:ext cx="163755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1"/>
          <p:cNvSpPr/>
          <p:nvPr/>
        </p:nvSpPr>
        <p:spPr>
          <a:xfrm>
            <a:off x="5482083" y="4814589"/>
            <a:ext cx="283666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1"/>
          <p:cNvSpPr/>
          <p:nvPr/>
        </p:nvSpPr>
        <p:spPr>
          <a:xfrm>
            <a:off x="8318748" y="4814589"/>
            <a:ext cx="311125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1"/>
          <p:cNvSpPr txBox="1"/>
          <p:nvPr/>
        </p:nvSpPr>
        <p:spPr>
          <a:xfrm>
            <a:off x="904875" y="571500"/>
            <a:ext cx="11051381" cy="438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 dirty="0" err="1">
                <a:solidFill>
                  <a:srgbClr val="0B132B"/>
                </a:solidFill>
                <a:latin typeface="Poppins"/>
                <a:ea typeface="Poppins"/>
                <a:cs typeface="Poppins"/>
                <a:sym typeface="Poppins"/>
              </a:rPr>
              <a:t>Порівняльна</a:t>
            </a:r>
            <a:r>
              <a:rPr lang="en-US" sz="2850" b="1" i="0" u="none" strike="noStrike" cap="none" dirty="0">
                <a:solidFill>
                  <a:srgbClr val="0B132B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850" b="1" i="0" u="none" strike="noStrike" cap="none" dirty="0" err="1">
                <a:solidFill>
                  <a:srgbClr val="0B132B"/>
                </a:solidFill>
                <a:latin typeface="Poppins"/>
                <a:ea typeface="Poppins"/>
                <a:cs typeface="Poppins"/>
                <a:sym typeface="Poppins"/>
              </a:rPr>
              <a:t>характеристика</a:t>
            </a:r>
            <a:r>
              <a:rPr lang="en-US" sz="2850" b="1" i="0" u="none" strike="noStrike" cap="none" dirty="0">
                <a:solidFill>
                  <a:srgbClr val="0B132B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uk-UA" sz="2850" b="1" i="0" u="none" strike="noStrike" cap="none" dirty="0">
                <a:solidFill>
                  <a:srgbClr val="0B132B"/>
                </a:solidFill>
                <a:latin typeface="Poppins"/>
                <a:ea typeface="Poppins"/>
                <a:cs typeface="Poppins"/>
                <a:sym typeface="Poppins"/>
              </a:rPr>
              <a:t>аналогів</a:t>
            </a:r>
            <a:endParaRPr dirty="0"/>
          </a:p>
        </p:txBody>
      </p:sp>
      <p:sp>
        <p:nvSpPr>
          <p:cNvPr id="205" name="Google Shape;205;p21"/>
          <p:cNvSpPr/>
          <p:nvPr/>
        </p:nvSpPr>
        <p:spPr>
          <a:xfrm>
            <a:off x="762000" y="571500"/>
            <a:ext cx="57150" cy="542925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B"/>
        </a:solidFill>
        <a:effectLst/>
      </p:bgPr>
    </p:bg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6" name="Google Shape;246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4"/>
          <p:cNvSpPr txBox="1"/>
          <p:nvPr/>
        </p:nvSpPr>
        <p:spPr>
          <a:xfrm>
            <a:off x="495300" y="2345977"/>
            <a:ext cx="112014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38BDF8"/>
                </a:solidFill>
                <a:latin typeface="Poppins"/>
                <a:ea typeface="Poppins"/>
                <a:cs typeface="Poppins"/>
                <a:sym typeface="Poppins"/>
              </a:rPr>
              <a:t>Дякую за увагу!</a:t>
            </a:r>
            <a:endParaRPr/>
          </a:p>
        </p:txBody>
      </p:sp>
      <p:sp>
        <p:nvSpPr>
          <p:cNvPr id="248" name="Google Shape;248;p24"/>
          <p:cNvSpPr txBox="1"/>
          <p:nvPr/>
        </p:nvSpPr>
        <p:spPr>
          <a:xfrm>
            <a:off x="762000" y="3565177"/>
            <a:ext cx="106680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SurveyUniq — Прозорість, Анонімність, Безпека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545</Words>
  <Application>Microsoft Office PowerPoint</Application>
  <PresentationFormat>Широкий екран</PresentationFormat>
  <Paragraphs>68</Paragraphs>
  <Slides>10</Slides>
  <Notes>10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10</vt:i4>
      </vt:variant>
    </vt:vector>
  </HeadingPairs>
  <TitlesOfParts>
    <vt:vector size="18" baseType="lpstr">
      <vt:lpstr>Poppins</vt:lpstr>
      <vt:lpstr>Inter Medium</vt:lpstr>
      <vt:lpstr>Poppins SemiBold</vt:lpstr>
      <vt:lpstr>Inter</vt:lpstr>
      <vt:lpstr>Arial</vt:lpstr>
      <vt:lpstr>Calibri</vt:lpstr>
      <vt:lpstr>Inter SemiBold</vt:lpstr>
      <vt:lpstr>Office Theme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Sasha Kovalchuk</cp:lastModifiedBy>
  <cp:revision>4</cp:revision>
  <dcterms:modified xsi:type="dcterms:W3CDTF">2026-06-15T08:26:37Z</dcterms:modified>
</cp:coreProperties>
</file>